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Open Sauce Medium" charset="1" panose="00000600000000000000"/>
      <p:regular r:id="rId23"/>
    </p:embeddedFont>
    <p:embeddedFont>
      <p:font typeface="Open Sauce Light" charset="1" panose="00000400000000000000"/>
      <p:regular r:id="rId24"/>
    </p:embeddedFont>
    <p:embeddedFont>
      <p:font typeface="Open Sauce" charset="1" panose="00000500000000000000"/>
      <p:regular r:id="rId25"/>
    </p:embeddedFont>
    <p:embeddedFont>
      <p:font typeface="Open Sauce Bold" charset="1" panose="000008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jpe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576468"/>
            <a:ext cx="16371909" cy="566532"/>
            <a:chOff x="0" y="0"/>
            <a:chExt cx="4311943" cy="149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11943" cy="149210"/>
            </a:xfrm>
            <a:custGeom>
              <a:avLst/>
              <a:gdLst/>
              <a:ahLst/>
              <a:cxnLst/>
              <a:rect r="r" b="b" t="t" l="l"/>
              <a:pathLst>
                <a:path h="149210" w="4311943">
                  <a:moveTo>
                    <a:pt x="47288" y="0"/>
                  </a:moveTo>
                  <a:lnTo>
                    <a:pt x="4264655" y="0"/>
                  </a:lnTo>
                  <a:cubicBezTo>
                    <a:pt x="4277197" y="0"/>
                    <a:pt x="4289225" y="4982"/>
                    <a:pt x="4298093" y="13850"/>
                  </a:cubicBezTo>
                  <a:cubicBezTo>
                    <a:pt x="4306961" y="22718"/>
                    <a:pt x="4311943" y="34746"/>
                    <a:pt x="4311943" y="47288"/>
                  </a:cubicBezTo>
                  <a:lnTo>
                    <a:pt x="4311943" y="101922"/>
                  </a:lnTo>
                  <a:cubicBezTo>
                    <a:pt x="4311943" y="114464"/>
                    <a:pt x="4306961" y="126492"/>
                    <a:pt x="4298093" y="135360"/>
                  </a:cubicBezTo>
                  <a:cubicBezTo>
                    <a:pt x="4289225" y="144228"/>
                    <a:pt x="4277197" y="149210"/>
                    <a:pt x="4264655" y="149210"/>
                  </a:cubicBezTo>
                  <a:lnTo>
                    <a:pt x="47288" y="149210"/>
                  </a:lnTo>
                  <a:cubicBezTo>
                    <a:pt x="34746" y="149210"/>
                    <a:pt x="22718" y="144228"/>
                    <a:pt x="13850" y="135360"/>
                  </a:cubicBezTo>
                  <a:cubicBezTo>
                    <a:pt x="4982" y="126492"/>
                    <a:pt x="0" y="114464"/>
                    <a:pt x="0" y="101922"/>
                  </a:cubicBezTo>
                  <a:lnTo>
                    <a:pt x="0" y="47288"/>
                  </a:lnTo>
                  <a:cubicBezTo>
                    <a:pt x="0" y="34746"/>
                    <a:pt x="4982" y="22718"/>
                    <a:pt x="13850" y="13850"/>
                  </a:cubicBezTo>
                  <a:cubicBezTo>
                    <a:pt x="22718" y="4982"/>
                    <a:pt x="34746" y="0"/>
                    <a:pt x="4728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357FF">
                    <a:alpha val="100000"/>
                  </a:srgbClr>
                </a:gs>
                <a:gs pos="100000">
                  <a:srgbClr val="FCAC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11943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5443169" y="-2557831"/>
            <a:ext cx="7401663" cy="18288000"/>
          </a:xfrm>
          <a:custGeom>
            <a:avLst/>
            <a:gdLst/>
            <a:ahLst/>
            <a:cxnLst/>
            <a:rect r="r" b="b" t="t" l="l"/>
            <a:pathLst>
              <a:path h="18288000" w="7401663">
                <a:moveTo>
                  <a:pt x="0" y="0"/>
                </a:moveTo>
                <a:lnTo>
                  <a:pt x="7401662" y="0"/>
                </a:lnTo>
                <a:lnTo>
                  <a:pt x="7401662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7016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570440" y="3032109"/>
            <a:ext cx="13125900" cy="2318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7"/>
              </a:lnSpc>
            </a:pPr>
            <a:r>
              <a:rPr lang="en-US" b="true" sz="5148" spc="-241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Büyük Veri Çağında Derin Öğrenme Tahmin Modelleri</a:t>
            </a:r>
          </a:p>
          <a:p>
            <a:pPr algn="ctr" marL="0" indent="0" lvl="0">
              <a:lnSpc>
                <a:spcPts val="3904"/>
              </a:lnSpc>
              <a:spcBef>
                <a:spcPct val="0"/>
              </a:spcBef>
            </a:pPr>
            <a:r>
              <a:rPr lang="en-US" b="true" sz="2789" spc="-131">
                <a:gradFill>
                  <a:gsLst>
                    <a:gs pos="0">
                      <a:srgbClr val="7357FF">
                        <a:alpha val="100000"/>
                      </a:srgbClr>
                    </a:gs>
                    <a:gs pos="100000">
                      <a:srgbClr val="FCACFF">
                        <a:alpha val="100000"/>
                      </a:srgbClr>
                    </a:gs>
                  </a:gsLst>
                  <a:lin ang="0"/>
                </a:gradFill>
                <a:latin typeface="Open Sauce Medium"/>
                <a:ea typeface="Open Sauce Medium"/>
                <a:cs typeface="Open Sauce Medium"/>
                <a:sym typeface="Open Sauce Medium"/>
              </a:rPr>
              <a:t>Temel Mimari Yapılar, Tarihsel Gelişim ve Uygulama Alanları Üzerine Bir İnceleme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617766" y="6219655"/>
            <a:ext cx="9052468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spc="-117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Abdulkadir Doğan</a:t>
            </a:r>
          </a:p>
          <a:p>
            <a:pPr algn="ctr">
              <a:lnSpc>
                <a:spcPts val="3499"/>
              </a:lnSpc>
            </a:pPr>
            <a:r>
              <a:rPr lang="en-US" sz="2499" spc="-117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02220224053</a:t>
            </a:r>
          </a:p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pc="-117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Derin Sinir Ağları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511960" y="8819935"/>
            <a:ext cx="4747340" cy="422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1"/>
              </a:lnSpc>
            </a:pPr>
            <a:r>
              <a:rPr lang="en-US" sz="247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a.kadirdgn35@gmail.com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496029" y="8835324"/>
            <a:ext cx="1274721" cy="422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1"/>
              </a:lnSpc>
            </a:pPr>
            <a:r>
              <a:rPr lang="en-US" sz="247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-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05489" y="8819935"/>
            <a:ext cx="4747340" cy="422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1"/>
              </a:lnSpc>
            </a:pPr>
            <a:r>
              <a:rPr lang="en-US" sz="247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12.03.2026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5400000">
            <a:off x="9997172" y="2500334"/>
            <a:ext cx="9145756" cy="9162415"/>
          </a:xfrm>
          <a:custGeom>
            <a:avLst/>
            <a:gdLst/>
            <a:ahLst/>
            <a:cxnLst/>
            <a:rect r="r" b="b" t="t" l="l"/>
            <a:pathLst>
              <a:path h="9162415" w="9145756">
                <a:moveTo>
                  <a:pt x="9145757" y="0"/>
                </a:moveTo>
                <a:lnTo>
                  <a:pt x="0" y="0"/>
                </a:lnTo>
                <a:lnTo>
                  <a:pt x="0" y="9162415"/>
                </a:lnTo>
                <a:lnTo>
                  <a:pt x="9145757" y="9162415"/>
                </a:lnTo>
                <a:lnTo>
                  <a:pt x="914575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759156" y="4174130"/>
            <a:ext cx="5741000" cy="1957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704"/>
              </a:lnSpc>
            </a:pPr>
            <a:r>
              <a:rPr lang="en-US" sz="6641" spc="-31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Derin Öğrenme Nedir?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46995" y="2231072"/>
            <a:ext cx="7128784" cy="578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 spc="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Derin öğrenme (DL), tek bir yöntemden ziyade, büyük verilerle karmaşık tahmin modellerini öğrenmek için kullanılan bir algoritmalar ailesidir.</a:t>
            </a:r>
          </a:p>
          <a:p>
            <a:pPr algn="just">
              <a:lnSpc>
                <a:spcPts val="3079"/>
              </a:lnSpc>
            </a:pPr>
          </a:p>
          <a:p>
            <a:pPr algn="just">
              <a:lnSpc>
                <a:spcPts val="3079"/>
              </a:lnSpc>
            </a:pPr>
          </a:p>
          <a:p>
            <a:pPr algn="just">
              <a:lnSpc>
                <a:spcPts val="3079"/>
              </a:lnSpc>
            </a:pPr>
            <a:r>
              <a:rPr lang="en-US" sz="2199" spc="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Büyük veri çağında (Big Data Era) geleneksel yöntemlerin yetersiz kaldığı görüntü analizi, konuşma tanıma ve doğal dil işleme gibi alanlarda devrim yaratmıştır.</a:t>
            </a:r>
          </a:p>
          <a:p>
            <a:pPr algn="just">
              <a:lnSpc>
                <a:spcPts val="3079"/>
              </a:lnSpc>
            </a:pPr>
          </a:p>
          <a:p>
            <a:pPr algn="just">
              <a:lnSpc>
                <a:spcPts val="3079"/>
              </a:lnSpc>
            </a:pPr>
          </a:p>
          <a:p>
            <a:pPr algn="just">
              <a:lnSpc>
                <a:spcPts val="3079"/>
              </a:lnSpc>
              <a:spcBef>
                <a:spcPct val="0"/>
              </a:spcBef>
            </a:pPr>
            <a:r>
              <a:rPr lang="en-US" sz="2199" spc="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Model mimarileri, adeta "Lego" parçaları gibi esnek bir şekilde birleştirilerek yeni ve uygulamaya özel ağlar oluşturmaya olanak tanır.</a:t>
            </a:r>
          </a:p>
          <a:p>
            <a:pPr algn="just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1759156" y="7354922"/>
            <a:ext cx="6178546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00"/>
              </a:lnSpc>
            </a:pPr>
            <a:r>
              <a:rPr lang="en-US" b="true" sz="3000" spc="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DERİN ÖĞRENME MODELLERİ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03976" y="5946852"/>
            <a:ext cx="6203694" cy="2929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704"/>
              </a:lnSpc>
            </a:pPr>
            <a:r>
              <a:rPr lang="en-US" b="true" sz="6641" spc="-312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Perceptron'dan Derin</a:t>
            </a:r>
          </a:p>
          <a:p>
            <a:pPr algn="just" marL="0" indent="0" lvl="0">
              <a:lnSpc>
                <a:spcPts val="7704"/>
              </a:lnSpc>
            </a:pPr>
            <a:r>
              <a:rPr lang="en-US" b="true" sz="6641" spc="-312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Yolculuk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643857" y="2527713"/>
            <a:ext cx="6049097" cy="632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1943 &amp; 1957: McCulloch ve Pitts'in ilk matematiksel nöron modeli ve Rosenblatt'ın Perceptron'u.</a:t>
            </a:r>
          </a:p>
          <a:p>
            <a:pPr algn="just">
              <a:lnSpc>
                <a:spcPts val="2659"/>
              </a:lnSpc>
            </a:pPr>
          </a:p>
          <a:p>
            <a:pPr algn="just">
              <a:lnSpc>
                <a:spcPts val="2659"/>
              </a:lnSpc>
            </a:pPr>
          </a:p>
          <a:p>
            <a:pPr algn="just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1969 &amp; 1986: XOR problemi nedeniyle yaşanan "Yapay Zeka Kışı" ve Geri Yayılım (Backpropagation) algoritmasının yeniden doğuşu.</a:t>
            </a:r>
          </a:p>
          <a:p>
            <a:pPr algn="just">
              <a:lnSpc>
                <a:spcPts val="2659"/>
              </a:lnSpc>
            </a:pPr>
          </a:p>
          <a:p>
            <a:pPr algn="just">
              <a:lnSpc>
                <a:spcPts val="2659"/>
              </a:lnSpc>
            </a:pPr>
          </a:p>
          <a:p>
            <a:pPr algn="just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1997: Uzun Kısa Süreli Bellek (LSTM) ağlarının ufuk açıcı icadı.</a:t>
            </a:r>
          </a:p>
          <a:p>
            <a:pPr algn="just">
              <a:lnSpc>
                <a:spcPts val="2659"/>
              </a:lnSpc>
            </a:pPr>
          </a:p>
          <a:p>
            <a:pPr algn="just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2006 &amp; 2012: Derin İnanç Ağları (DBN) ile verimli ön-eğitim ve AlexNet'in ImageNet yarışmasını kazanmasıyla başlayan modern derin öğrenme patlaması.</a:t>
            </a:r>
          </a:p>
          <a:p>
            <a:pPr algn="just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2488545" y="6776712"/>
            <a:ext cx="5741000" cy="1126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95"/>
              </a:lnSpc>
              <a:spcBef>
                <a:spcPct val="0"/>
              </a:spcBef>
            </a:pPr>
            <a:r>
              <a:rPr lang="en-US" b="true" sz="6639" spc="1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Ağlara</a:t>
            </a:r>
          </a:p>
        </p:txBody>
      </p:sp>
      <p:sp>
        <p:nvSpPr>
          <p:cNvPr name="Freeform 5" id="5"/>
          <p:cNvSpPr/>
          <p:nvPr/>
        </p:nvSpPr>
        <p:spPr>
          <a:xfrm flipH="true" flipV="true" rot="0">
            <a:off x="1703976" y="1930647"/>
            <a:ext cx="2750861" cy="2750861"/>
          </a:xfrm>
          <a:custGeom>
            <a:avLst/>
            <a:gdLst/>
            <a:ahLst/>
            <a:cxnLst/>
            <a:rect r="r" b="b" t="t" l="l"/>
            <a:pathLst>
              <a:path h="2750861" w="2750861">
                <a:moveTo>
                  <a:pt x="2750862" y="2750862"/>
                </a:moveTo>
                <a:lnTo>
                  <a:pt x="0" y="2750862"/>
                </a:lnTo>
                <a:lnTo>
                  <a:pt x="0" y="0"/>
                </a:lnTo>
                <a:lnTo>
                  <a:pt x="2750862" y="0"/>
                </a:lnTo>
                <a:lnTo>
                  <a:pt x="2750862" y="275086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028700" y="1028700"/>
            <a:ext cx="2750861" cy="2750861"/>
          </a:xfrm>
          <a:custGeom>
            <a:avLst/>
            <a:gdLst/>
            <a:ahLst/>
            <a:cxnLst/>
            <a:rect r="r" b="b" t="t" l="l"/>
            <a:pathLst>
              <a:path h="2750861" w="2750861">
                <a:moveTo>
                  <a:pt x="2750861" y="2750861"/>
                </a:moveTo>
                <a:lnTo>
                  <a:pt x="0" y="2750861"/>
                </a:lnTo>
                <a:lnTo>
                  <a:pt x="0" y="0"/>
                </a:lnTo>
                <a:lnTo>
                  <a:pt x="2750861" y="0"/>
                </a:lnTo>
                <a:lnTo>
                  <a:pt x="2750861" y="275086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518300" y="5347128"/>
            <a:ext cx="5030355" cy="2972063"/>
          </a:xfrm>
          <a:custGeom>
            <a:avLst/>
            <a:gdLst/>
            <a:ahLst/>
            <a:cxnLst/>
            <a:rect r="r" b="b" t="t" l="l"/>
            <a:pathLst>
              <a:path h="2972063" w="5030355">
                <a:moveTo>
                  <a:pt x="0" y="0"/>
                </a:moveTo>
                <a:lnTo>
                  <a:pt x="5030355" y="0"/>
                </a:lnTo>
                <a:lnTo>
                  <a:pt x="5030355" y="2972063"/>
                </a:lnTo>
                <a:lnTo>
                  <a:pt x="0" y="29720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002147" y="4694213"/>
            <a:ext cx="1908520" cy="652915"/>
          </a:xfrm>
          <a:custGeom>
            <a:avLst/>
            <a:gdLst/>
            <a:ahLst/>
            <a:cxnLst/>
            <a:rect r="r" b="b" t="t" l="l"/>
            <a:pathLst>
              <a:path h="652915" w="1908520">
                <a:moveTo>
                  <a:pt x="0" y="0"/>
                </a:moveTo>
                <a:lnTo>
                  <a:pt x="1908519" y="0"/>
                </a:lnTo>
                <a:lnTo>
                  <a:pt x="1908519" y="652915"/>
                </a:lnTo>
                <a:lnTo>
                  <a:pt x="0" y="6529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376446" y="6571858"/>
            <a:ext cx="3159922" cy="522602"/>
          </a:xfrm>
          <a:custGeom>
            <a:avLst/>
            <a:gdLst/>
            <a:ahLst/>
            <a:cxnLst/>
            <a:rect r="r" b="b" t="t" l="l"/>
            <a:pathLst>
              <a:path h="522602" w="3159922">
                <a:moveTo>
                  <a:pt x="0" y="0"/>
                </a:moveTo>
                <a:lnTo>
                  <a:pt x="3159921" y="0"/>
                </a:lnTo>
                <a:lnTo>
                  <a:pt x="3159921" y="522603"/>
                </a:lnTo>
                <a:lnTo>
                  <a:pt x="0" y="5226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518300" y="1047750"/>
            <a:ext cx="5741000" cy="1957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704"/>
              </a:lnSpc>
            </a:pPr>
            <a:r>
              <a:rPr lang="en-US" sz="6641" spc="-31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Matematiksel Nöron Modeli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518300" y="3466462"/>
            <a:ext cx="5030355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59"/>
              </a:lnSpc>
              <a:spcBef>
                <a:spcPct val="0"/>
              </a:spcBef>
            </a:pPr>
            <a:r>
              <a:rPr lang="en-US" sz="18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Bir sinir ağı hücresi (nöron), girdileri, ağırlıkları ve bir sapma (bias) değerini işleyerek doğrusal olmayan bir çıktı üretir.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56376" y="1692847"/>
            <a:ext cx="5152572" cy="2111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00"/>
              </a:lnSpc>
            </a:pPr>
            <a:r>
              <a:rPr lang="en-US" b="true" sz="5000" spc="1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ÇEKIRDEK YAPI: YAPAY SİNİR HÜCRESI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56376" y="4263404"/>
            <a:ext cx="6200061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Ağırlıklandırılmış toplam z, şu formülle ifade edilir: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56376" y="5660461"/>
            <a:ext cx="6616303" cy="709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Bu toplam daha sonra bir aktivasyon fonksiyonundan</a:t>
            </a:r>
          </a:p>
          <a:p>
            <a:pPr algn="l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geçirilerek çıktı y elde edilir: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56376" y="7408786"/>
            <a:ext cx="8353068" cy="709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Not: Günümüzde derin ağlar için en popüler aktivasyon fonksiyonu </a:t>
            </a:r>
          </a:p>
          <a:p>
            <a:pPr algn="l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ReLU (Rectified Linear Unit) olarak öne çıkmaktadır.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84809" y="1787525"/>
            <a:ext cx="14918382" cy="6974344"/>
          </a:xfrm>
          <a:custGeom>
            <a:avLst/>
            <a:gdLst/>
            <a:ahLst/>
            <a:cxnLst/>
            <a:rect r="r" b="b" t="t" l="l"/>
            <a:pathLst>
              <a:path h="6974344" w="14918382">
                <a:moveTo>
                  <a:pt x="0" y="0"/>
                </a:moveTo>
                <a:lnTo>
                  <a:pt x="14918382" y="0"/>
                </a:lnTo>
                <a:lnTo>
                  <a:pt x="14918382" y="6974344"/>
                </a:lnTo>
                <a:lnTo>
                  <a:pt x="0" y="69743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1066800"/>
            <a:ext cx="17912788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00"/>
              </a:lnSpc>
            </a:pPr>
            <a:r>
              <a:rPr lang="en-US" b="true" sz="5000" spc="1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YSA VE AKTİVASYON FONKSİYONLARI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914400"/>
            <a:ext cx="16371909" cy="114300"/>
            <a:chOff x="0" y="0"/>
            <a:chExt cx="4311943" cy="30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311943" cy="30104"/>
            </a:xfrm>
            <a:custGeom>
              <a:avLst/>
              <a:gdLst/>
              <a:ahLst/>
              <a:cxnLst/>
              <a:rect r="r" b="b" t="t" l="l"/>
              <a:pathLst>
                <a:path h="30104" w="4311943">
                  <a:moveTo>
                    <a:pt x="15052" y="0"/>
                  </a:moveTo>
                  <a:lnTo>
                    <a:pt x="4296891" y="0"/>
                  </a:lnTo>
                  <a:cubicBezTo>
                    <a:pt x="4300883" y="0"/>
                    <a:pt x="4304712" y="1586"/>
                    <a:pt x="4307534" y="4409"/>
                  </a:cubicBezTo>
                  <a:cubicBezTo>
                    <a:pt x="4310357" y="7231"/>
                    <a:pt x="4311943" y="11060"/>
                    <a:pt x="4311943" y="15052"/>
                  </a:cubicBezTo>
                  <a:lnTo>
                    <a:pt x="4311943" y="15052"/>
                  </a:lnTo>
                  <a:cubicBezTo>
                    <a:pt x="4311943" y="19044"/>
                    <a:pt x="4310357" y="22872"/>
                    <a:pt x="4307534" y="25695"/>
                  </a:cubicBezTo>
                  <a:cubicBezTo>
                    <a:pt x="4304712" y="28518"/>
                    <a:pt x="4300883" y="30104"/>
                    <a:pt x="4296891" y="30104"/>
                  </a:cubicBezTo>
                  <a:lnTo>
                    <a:pt x="15052" y="30104"/>
                  </a:lnTo>
                  <a:cubicBezTo>
                    <a:pt x="11060" y="30104"/>
                    <a:pt x="7231" y="28518"/>
                    <a:pt x="4409" y="25695"/>
                  </a:cubicBezTo>
                  <a:cubicBezTo>
                    <a:pt x="1586" y="22872"/>
                    <a:pt x="0" y="19044"/>
                    <a:pt x="0" y="15052"/>
                  </a:cubicBezTo>
                  <a:lnTo>
                    <a:pt x="0" y="15052"/>
                  </a:lnTo>
                  <a:cubicBezTo>
                    <a:pt x="0" y="11060"/>
                    <a:pt x="1586" y="7231"/>
                    <a:pt x="4409" y="4409"/>
                  </a:cubicBezTo>
                  <a:cubicBezTo>
                    <a:pt x="7231" y="1586"/>
                    <a:pt x="11060" y="0"/>
                    <a:pt x="1505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357FF">
                    <a:alpha val="100000"/>
                  </a:srgbClr>
                </a:gs>
                <a:gs pos="100000">
                  <a:srgbClr val="FCAC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311943" cy="682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5400000">
            <a:off x="-755771" y="-136158"/>
            <a:ext cx="8558066" cy="8573655"/>
          </a:xfrm>
          <a:custGeom>
            <a:avLst/>
            <a:gdLst/>
            <a:ahLst/>
            <a:cxnLst/>
            <a:rect r="r" b="b" t="t" l="l"/>
            <a:pathLst>
              <a:path h="8573655" w="8558066">
                <a:moveTo>
                  <a:pt x="0" y="8573655"/>
                </a:moveTo>
                <a:lnTo>
                  <a:pt x="8558066" y="8573655"/>
                </a:lnTo>
                <a:lnTo>
                  <a:pt x="8558066" y="0"/>
                </a:lnTo>
                <a:lnTo>
                  <a:pt x="0" y="0"/>
                </a:lnTo>
                <a:lnTo>
                  <a:pt x="0" y="857365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355274" y="5143500"/>
            <a:ext cx="4455164" cy="454609"/>
          </a:xfrm>
          <a:custGeom>
            <a:avLst/>
            <a:gdLst/>
            <a:ahLst/>
            <a:cxnLst/>
            <a:rect r="r" b="b" t="t" l="l"/>
            <a:pathLst>
              <a:path h="454609" w="4455164">
                <a:moveTo>
                  <a:pt x="0" y="0"/>
                </a:moveTo>
                <a:lnTo>
                  <a:pt x="4455164" y="0"/>
                </a:lnTo>
                <a:lnTo>
                  <a:pt x="4455164" y="454609"/>
                </a:lnTo>
                <a:lnTo>
                  <a:pt x="0" y="4546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660347" y="1841184"/>
            <a:ext cx="5741000" cy="1231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871"/>
              </a:lnSpc>
            </a:pPr>
            <a:r>
              <a:rPr lang="en-US" sz="4199" spc="-197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Evrensel Yaklaşım ve İleri Besleme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660347" y="3352726"/>
            <a:ext cx="5738142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59"/>
              </a:lnSpc>
              <a:spcBef>
                <a:spcPct val="0"/>
              </a:spcBef>
            </a:pPr>
            <a:r>
              <a:rPr lang="en-US" sz="18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Tek bir gizli katmana sahip bir ağ bile herhangi bir sürekli fonksiyona yaklaşabilir (Evrensel Yaklaşım Teoremi).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03976" y="2734619"/>
            <a:ext cx="5152572" cy="280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00"/>
              </a:lnSpc>
            </a:pPr>
            <a:r>
              <a:rPr lang="en-US" b="true" sz="5000" spc="1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DERİN İLERİ BESLEMELİ SİNİR AĞLARI (D-FFNN)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660347" y="4618917"/>
            <a:ext cx="584501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Fonksiyon tahmini şu şekilde matematikselleştirilir: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660347" y="6038234"/>
            <a:ext cx="5559862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D-FFNN'ler veriyi döngü (feed-back) olmadan,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katmanlar arası doğrusal olmayan dönüşümlerle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ileriye doğru işler.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5400000">
            <a:off x="-1449175" y="-220557"/>
            <a:ext cx="8558066" cy="8573655"/>
          </a:xfrm>
          <a:custGeom>
            <a:avLst/>
            <a:gdLst/>
            <a:ahLst/>
            <a:cxnLst/>
            <a:rect r="r" b="b" t="t" l="l"/>
            <a:pathLst>
              <a:path h="8573655" w="8558066">
                <a:moveTo>
                  <a:pt x="0" y="8573655"/>
                </a:moveTo>
                <a:lnTo>
                  <a:pt x="8558067" y="8573655"/>
                </a:lnTo>
                <a:lnTo>
                  <a:pt x="8558067" y="0"/>
                </a:lnTo>
                <a:lnTo>
                  <a:pt x="0" y="0"/>
                </a:lnTo>
                <a:lnTo>
                  <a:pt x="0" y="857365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1497756" y="7411878"/>
            <a:ext cx="5653784" cy="5653784"/>
          </a:xfrm>
          <a:custGeom>
            <a:avLst/>
            <a:gdLst/>
            <a:ahLst/>
            <a:cxnLst/>
            <a:rect r="r" b="b" t="t" l="l"/>
            <a:pathLst>
              <a:path h="5653784" w="5653784">
                <a:moveTo>
                  <a:pt x="0" y="5653783"/>
                </a:moveTo>
                <a:lnTo>
                  <a:pt x="5653783" y="5653783"/>
                </a:lnTo>
                <a:lnTo>
                  <a:pt x="5653783" y="0"/>
                </a:lnTo>
                <a:lnTo>
                  <a:pt x="0" y="0"/>
                </a:lnTo>
                <a:lnTo>
                  <a:pt x="0" y="565378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8131323" y="4499947"/>
            <a:ext cx="1432847" cy="1432847"/>
          </a:xfrm>
          <a:custGeom>
            <a:avLst/>
            <a:gdLst/>
            <a:ahLst/>
            <a:cxnLst/>
            <a:rect r="r" b="b" t="t" l="l"/>
            <a:pathLst>
              <a:path h="1432847" w="1432847">
                <a:moveTo>
                  <a:pt x="1432848" y="0"/>
                </a:moveTo>
                <a:lnTo>
                  <a:pt x="0" y="0"/>
                </a:lnTo>
                <a:lnTo>
                  <a:pt x="0" y="1432847"/>
                </a:lnTo>
                <a:lnTo>
                  <a:pt x="1432848" y="1432847"/>
                </a:lnTo>
                <a:lnTo>
                  <a:pt x="143284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338258" y="5533739"/>
            <a:ext cx="7159434" cy="3293340"/>
          </a:xfrm>
          <a:custGeom>
            <a:avLst/>
            <a:gdLst/>
            <a:ahLst/>
            <a:cxnLst/>
            <a:rect r="r" b="b" t="t" l="l"/>
            <a:pathLst>
              <a:path h="3293340" w="7159434">
                <a:moveTo>
                  <a:pt x="0" y="0"/>
                </a:moveTo>
                <a:lnTo>
                  <a:pt x="7159434" y="0"/>
                </a:lnTo>
                <a:lnTo>
                  <a:pt x="7159434" y="3293339"/>
                </a:lnTo>
                <a:lnTo>
                  <a:pt x="0" y="32933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856376" y="6963238"/>
            <a:ext cx="7707794" cy="44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79"/>
              </a:lnSpc>
            </a:pPr>
            <a:r>
              <a:rPr lang="en-US" sz="3000" spc="-141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Görüntü ve Boyutsal Veri İşleme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56376" y="2650221"/>
            <a:ext cx="5953713" cy="141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00"/>
              </a:lnSpc>
            </a:pPr>
            <a:r>
              <a:rPr lang="en-US" b="true" sz="5000" spc="1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EVRIŞIMLI SINIR AĞLARI (CNN)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724166" y="991601"/>
            <a:ext cx="5287533" cy="4657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Tam bağlantılı ağların (fully-connected) aşırı parametre yükünü çözmek için tasarlanmıştır.</a:t>
            </a:r>
          </a:p>
          <a:p>
            <a:pPr algn="just">
              <a:lnSpc>
                <a:spcPts val="2659"/>
              </a:lnSpc>
            </a:pPr>
          </a:p>
          <a:p>
            <a:pPr algn="just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Yerel Bağlantı (Local Connectivity): Bir nöron sadece bir önceki katmandaki yakın nöronlara bağlanır.</a:t>
            </a:r>
          </a:p>
          <a:p>
            <a:pPr algn="just">
              <a:lnSpc>
                <a:spcPts val="2659"/>
              </a:lnSpc>
            </a:pPr>
          </a:p>
          <a:p>
            <a:pPr algn="just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Ağırlık Paylaşımı (Weight Sharing): Aynı çekirdek (kernel) tüm görüntü üzerinde gezinerek aynı ağırlıkları kullanır, bu da parametre sayısını dramatik şekilde düşürür.</a:t>
            </a:r>
          </a:p>
          <a:p>
            <a:pPr algn="just">
              <a:lnSpc>
                <a:spcPts val="26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96703" y="1682915"/>
            <a:ext cx="14494595" cy="6921169"/>
          </a:xfrm>
          <a:custGeom>
            <a:avLst/>
            <a:gdLst/>
            <a:ahLst/>
            <a:cxnLst/>
            <a:rect r="r" b="b" t="t" l="l"/>
            <a:pathLst>
              <a:path h="6921169" w="14494595">
                <a:moveTo>
                  <a:pt x="0" y="0"/>
                </a:moveTo>
                <a:lnTo>
                  <a:pt x="14494594" y="0"/>
                </a:lnTo>
                <a:lnTo>
                  <a:pt x="14494594" y="6921170"/>
                </a:lnTo>
                <a:lnTo>
                  <a:pt x="0" y="69211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226504" y="835677"/>
            <a:ext cx="1834991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CNN Mimarisi 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9008234"/>
          </a:xfrm>
          <a:custGeom>
            <a:avLst/>
            <a:gdLst/>
            <a:ahLst/>
            <a:cxnLst/>
            <a:rect r="r" b="b" t="t" l="l"/>
            <a:pathLst>
              <a:path h="9008234" w="18288000">
                <a:moveTo>
                  <a:pt x="0" y="0"/>
                </a:moveTo>
                <a:lnTo>
                  <a:pt x="18288000" y="0"/>
                </a:lnTo>
                <a:lnTo>
                  <a:pt x="18288000" y="9008234"/>
                </a:lnTo>
                <a:lnTo>
                  <a:pt x="0" y="90082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306" r="0" b="-4306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0734914" y="-869322"/>
            <a:ext cx="8558066" cy="8573655"/>
          </a:xfrm>
          <a:custGeom>
            <a:avLst/>
            <a:gdLst/>
            <a:ahLst/>
            <a:cxnLst/>
            <a:rect r="r" b="b" t="t" l="l"/>
            <a:pathLst>
              <a:path h="8573655" w="8558066">
                <a:moveTo>
                  <a:pt x="0" y="0"/>
                </a:moveTo>
                <a:lnTo>
                  <a:pt x="8558067" y="0"/>
                </a:lnTo>
                <a:lnTo>
                  <a:pt x="8558067" y="8573655"/>
                </a:lnTo>
                <a:lnTo>
                  <a:pt x="0" y="85736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5565123"/>
            <a:ext cx="3427734" cy="1880802"/>
          </a:xfrm>
          <a:custGeom>
            <a:avLst/>
            <a:gdLst/>
            <a:ahLst/>
            <a:cxnLst/>
            <a:rect r="r" b="b" t="t" l="l"/>
            <a:pathLst>
              <a:path h="1880802" w="3427734">
                <a:moveTo>
                  <a:pt x="0" y="0"/>
                </a:moveTo>
                <a:lnTo>
                  <a:pt x="3427734" y="0"/>
                </a:lnTo>
                <a:lnTo>
                  <a:pt x="3427734" y="1880802"/>
                </a:lnTo>
                <a:lnTo>
                  <a:pt x="0" y="18808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066800"/>
            <a:ext cx="7440024" cy="141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00"/>
              </a:lnSpc>
            </a:pPr>
            <a:r>
              <a:rPr lang="en-US" b="true" sz="5000" spc="1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CNN ÇIKTI BOYUTU HESAPLAMA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799009"/>
            <a:ext cx="6357461" cy="489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1"/>
              </a:lnSpc>
              <a:spcBef>
                <a:spcPct val="0"/>
              </a:spcBef>
            </a:pPr>
            <a:r>
              <a:rPr lang="en-US" sz="2851" spc="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Evrişim Katmanı Matematiksel Çıktısı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577901"/>
            <a:ext cx="13233214" cy="1089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6"/>
              </a:lnSpc>
              <a:spcBef>
                <a:spcPct val="0"/>
              </a:spcBef>
            </a:pPr>
            <a:r>
              <a:rPr lang="en-US" sz="2111" spc="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Bir CNN katmanının çıktı haritasının boyutunu W_out ve H_out belirleyen temel hiper-parametreler temel hiper-parametreler şunlardır: </a:t>
            </a:r>
          </a:p>
          <a:p>
            <a:pPr algn="l">
              <a:lnSpc>
                <a:spcPts val="2956"/>
              </a:lnSpc>
              <a:spcBef>
                <a:spcPct val="0"/>
              </a:spcBef>
            </a:pPr>
            <a:r>
              <a:rPr lang="en-US" sz="2111" spc="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Çekirdek boyutu (N), Adım sayısı - Stride (S) ve Sıfır dolgu - Zero-padding (P).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950477"/>
            <a:ext cx="3859649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  <a:spcBef>
                <a:spcPct val="0"/>
              </a:spcBef>
            </a:pPr>
            <a:r>
              <a:rPr lang="en-US" b="true" sz="2051" spc="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Matematiksel Boyut Formülü 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8029914"/>
            <a:ext cx="10935652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(Not: Bu hesaplama sayesinde ağın mimarisindeki parametre yoğunluğu optimize edilir.)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5400000">
            <a:off x="-1449175" y="-220557"/>
            <a:ext cx="8558066" cy="8573655"/>
          </a:xfrm>
          <a:custGeom>
            <a:avLst/>
            <a:gdLst/>
            <a:ahLst/>
            <a:cxnLst/>
            <a:rect r="r" b="b" t="t" l="l"/>
            <a:pathLst>
              <a:path h="8573655" w="8558066">
                <a:moveTo>
                  <a:pt x="0" y="8573655"/>
                </a:moveTo>
                <a:lnTo>
                  <a:pt x="8558067" y="8573655"/>
                </a:lnTo>
                <a:lnTo>
                  <a:pt x="8558067" y="0"/>
                </a:lnTo>
                <a:lnTo>
                  <a:pt x="0" y="0"/>
                </a:lnTo>
                <a:lnTo>
                  <a:pt x="0" y="857365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1497756" y="7411878"/>
            <a:ext cx="5653784" cy="5653784"/>
          </a:xfrm>
          <a:custGeom>
            <a:avLst/>
            <a:gdLst/>
            <a:ahLst/>
            <a:cxnLst/>
            <a:rect r="r" b="b" t="t" l="l"/>
            <a:pathLst>
              <a:path h="5653784" w="5653784">
                <a:moveTo>
                  <a:pt x="0" y="5653783"/>
                </a:moveTo>
                <a:lnTo>
                  <a:pt x="5653783" y="5653783"/>
                </a:lnTo>
                <a:lnTo>
                  <a:pt x="5653783" y="0"/>
                </a:lnTo>
                <a:lnTo>
                  <a:pt x="0" y="0"/>
                </a:lnTo>
                <a:lnTo>
                  <a:pt x="0" y="565378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8131323" y="4499947"/>
            <a:ext cx="1432847" cy="1432847"/>
          </a:xfrm>
          <a:custGeom>
            <a:avLst/>
            <a:gdLst/>
            <a:ahLst/>
            <a:cxnLst/>
            <a:rect r="r" b="b" t="t" l="l"/>
            <a:pathLst>
              <a:path h="1432847" w="1432847">
                <a:moveTo>
                  <a:pt x="1432848" y="0"/>
                </a:moveTo>
                <a:lnTo>
                  <a:pt x="0" y="0"/>
                </a:lnTo>
                <a:lnTo>
                  <a:pt x="0" y="1432847"/>
                </a:lnTo>
                <a:lnTo>
                  <a:pt x="1432848" y="1432847"/>
                </a:lnTo>
                <a:lnTo>
                  <a:pt x="143284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802183" y="6507435"/>
            <a:ext cx="6565451" cy="1138012"/>
          </a:xfrm>
          <a:custGeom>
            <a:avLst/>
            <a:gdLst/>
            <a:ahLst/>
            <a:cxnLst/>
            <a:rect r="r" b="b" t="t" l="l"/>
            <a:pathLst>
              <a:path h="1138012" w="6565451">
                <a:moveTo>
                  <a:pt x="0" y="0"/>
                </a:moveTo>
                <a:lnTo>
                  <a:pt x="6565452" y="0"/>
                </a:lnTo>
                <a:lnTo>
                  <a:pt x="6565452" y="1138011"/>
                </a:lnTo>
                <a:lnTo>
                  <a:pt x="0" y="113801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856376" y="6963238"/>
            <a:ext cx="7707794" cy="44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79"/>
              </a:lnSpc>
            </a:pPr>
            <a:r>
              <a:rPr lang="en-US" sz="3000" spc="-141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Üretken Modeller ve Ön-Eğitim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56376" y="2650221"/>
            <a:ext cx="5953713" cy="141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00"/>
              </a:lnSpc>
            </a:pPr>
            <a:r>
              <a:rPr lang="en-US" b="true" sz="5000" spc="1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DERIN İNANÇ AĞLARI (DBN)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338258" y="1273241"/>
            <a:ext cx="6215558" cy="3508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82206" indent="-241103" lvl="1">
              <a:lnSpc>
                <a:spcPts val="3126"/>
              </a:lnSpc>
              <a:buFont typeface="Arial"/>
              <a:buChar char="•"/>
            </a:pPr>
            <a:r>
              <a:rPr lang="en-US" sz="2233" spc="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Kısıtlı Boltzmann Makineleri (RBM) ile Derin İleri Beslemeli Ağların (D-FFNN) birleşimidir.</a:t>
            </a:r>
          </a:p>
          <a:p>
            <a:pPr algn="just">
              <a:lnSpc>
                <a:spcPts val="3126"/>
              </a:lnSpc>
            </a:pPr>
          </a:p>
          <a:p>
            <a:pPr algn="just" marL="482206" indent="-241103" lvl="1">
              <a:lnSpc>
                <a:spcPts val="3126"/>
              </a:lnSpc>
              <a:spcBef>
                <a:spcPct val="0"/>
              </a:spcBef>
              <a:buFont typeface="Arial"/>
              <a:buChar char="•"/>
            </a:pPr>
            <a:r>
              <a:rPr lang="en-US" sz="2233" spc="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Öğrenme süreci iki aşamadan oluşur: Denetimsiz ön-eğitim (unsupervised pre-training) ve denetimli ince ayar (supervised fine-tuning).</a:t>
            </a:r>
          </a:p>
          <a:p>
            <a:pPr algn="just">
              <a:lnSpc>
                <a:spcPts val="3126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802183" y="5168746"/>
            <a:ext cx="3522464" cy="447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1"/>
              </a:lnSpc>
              <a:spcBef>
                <a:spcPct val="0"/>
              </a:spcBef>
            </a:pPr>
            <a:r>
              <a:rPr lang="en-US" b="true" sz="2651" spc="5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Matematiksel Model: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802183" y="5904219"/>
            <a:ext cx="6044922" cy="288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1"/>
              </a:lnSpc>
              <a:spcBef>
                <a:spcPct val="0"/>
              </a:spcBef>
            </a:pPr>
            <a:r>
              <a:rPr lang="en-US" sz="1751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RBM modelinin enerji fonksiyonu E, şu şekilde tanımlanır: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5400000">
            <a:off x="-1449175" y="-220557"/>
            <a:ext cx="8558066" cy="8573655"/>
          </a:xfrm>
          <a:custGeom>
            <a:avLst/>
            <a:gdLst/>
            <a:ahLst/>
            <a:cxnLst/>
            <a:rect r="r" b="b" t="t" l="l"/>
            <a:pathLst>
              <a:path h="8573655" w="8558066">
                <a:moveTo>
                  <a:pt x="0" y="8573655"/>
                </a:moveTo>
                <a:lnTo>
                  <a:pt x="8558067" y="8573655"/>
                </a:lnTo>
                <a:lnTo>
                  <a:pt x="8558067" y="0"/>
                </a:lnTo>
                <a:lnTo>
                  <a:pt x="0" y="0"/>
                </a:lnTo>
                <a:lnTo>
                  <a:pt x="0" y="857365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1497756" y="7411878"/>
            <a:ext cx="5653784" cy="5653784"/>
          </a:xfrm>
          <a:custGeom>
            <a:avLst/>
            <a:gdLst/>
            <a:ahLst/>
            <a:cxnLst/>
            <a:rect r="r" b="b" t="t" l="l"/>
            <a:pathLst>
              <a:path h="5653784" w="5653784">
                <a:moveTo>
                  <a:pt x="0" y="5653783"/>
                </a:moveTo>
                <a:lnTo>
                  <a:pt x="5653783" y="5653783"/>
                </a:lnTo>
                <a:lnTo>
                  <a:pt x="5653783" y="0"/>
                </a:lnTo>
                <a:lnTo>
                  <a:pt x="0" y="0"/>
                </a:lnTo>
                <a:lnTo>
                  <a:pt x="0" y="565378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8131323" y="4499947"/>
            <a:ext cx="1432847" cy="1432847"/>
          </a:xfrm>
          <a:custGeom>
            <a:avLst/>
            <a:gdLst/>
            <a:ahLst/>
            <a:cxnLst/>
            <a:rect r="r" b="b" t="t" l="l"/>
            <a:pathLst>
              <a:path h="1432847" w="1432847">
                <a:moveTo>
                  <a:pt x="1432848" y="0"/>
                </a:moveTo>
                <a:lnTo>
                  <a:pt x="0" y="0"/>
                </a:lnTo>
                <a:lnTo>
                  <a:pt x="0" y="1432847"/>
                </a:lnTo>
                <a:lnTo>
                  <a:pt x="1432848" y="1432847"/>
                </a:lnTo>
                <a:lnTo>
                  <a:pt x="143284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083838" y="6032621"/>
            <a:ext cx="7457956" cy="2748966"/>
          </a:xfrm>
          <a:custGeom>
            <a:avLst/>
            <a:gdLst/>
            <a:ahLst/>
            <a:cxnLst/>
            <a:rect r="r" b="b" t="t" l="l"/>
            <a:pathLst>
              <a:path h="2748966" w="7457956">
                <a:moveTo>
                  <a:pt x="0" y="0"/>
                </a:moveTo>
                <a:lnTo>
                  <a:pt x="7457955" y="0"/>
                </a:lnTo>
                <a:lnTo>
                  <a:pt x="7457955" y="2748965"/>
                </a:lnTo>
                <a:lnTo>
                  <a:pt x="0" y="274896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856376" y="6963238"/>
            <a:ext cx="7707794" cy="44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79"/>
              </a:lnSpc>
            </a:pPr>
            <a:r>
              <a:rPr lang="en-US" sz="3000" spc="-141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Temsil Öğrenme ve Boyut İndirgeme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56376" y="2650221"/>
            <a:ext cx="6274947" cy="141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00"/>
              </a:lnSpc>
            </a:pPr>
            <a:r>
              <a:rPr lang="en-US" b="true" sz="5000" spc="1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OTOKODLAYICILAR (AUTOENCODERS)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338258" y="1282766"/>
            <a:ext cx="6215558" cy="5175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60615" indent="-230308" lvl="1">
              <a:lnSpc>
                <a:spcPts val="2986"/>
              </a:lnSpc>
              <a:buFont typeface="Arial"/>
              <a:buChar char="•"/>
            </a:pPr>
            <a:r>
              <a:rPr lang="en-US" sz="2133" spc="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Etiket kullanmayan (denetimsiz) ve girdi boyutu ile çıktı boyutu simetrik olan bir ağ yapısıdır.</a:t>
            </a:r>
          </a:p>
          <a:p>
            <a:pPr algn="just">
              <a:lnSpc>
                <a:spcPts val="2986"/>
              </a:lnSpc>
            </a:pPr>
          </a:p>
          <a:p>
            <a:pPr algn="just" marL="460615" indent="-230308" lvl="1">
              <a:lnSpc>
                <a:spcPts val="2986"/>
              </a:lnSpc>
              <a:buFont typeface="Arial"/>
              <a:buChar char="•"/>
            </a:pPr>
            <a:r>
              <a:rPr lang="en-US" sz="2133" spc="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Amaç: Girdi verisini (x) daha düşük boyutlu bir koda (c) sıkıştırmak (kodlayıcı) ve ardından bu koddan veriyi (y) yeniden inşa etmektir (çözücü).</a:t>
            </a:r>
          </a:p>
          <a:p>
            <a:pPr algn="just">
              <a:lnSpc>
                <a:spcPts val="2986"/>
              </a:lnSpc>
            </a:pPr>
          </a:p>
          <a:p>
            <a:pPr algn="just" marL="460615" indent="-230308" lvl="1">
              <a:lnSpc>
                <a:spcPts val="2986"/>
              </a:lnSpc>
              <a:spcBef>
                <a:spcPct val="0"/>
              </a:spcBef>
              <a:buFont typeface="Arial"/>
              <a:buChar char="•"/>
            </a:pPr>
            <a:r>
              <a:rPr lang="en-US" sz="2133" spc="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Doğrusal olmayan yapıları sayesinde Temel Bileşenler Analizinden (PCA) daha başarılı boyut indirgeme sağlarlar.</a:t>
            </a:r>
          </a:p>
          <a:p>
            <a:pPr algn="just">
              <a:lnSpc>
                <a:spcPts val="2986"/>
              </a:lnSpc>
              <a:spcBef>
                <a:spcPct val="0"/>
              </a:spcBef>
            </a:pPr>
          </a:p>
          <a:p>
            <a:pPr algn="just">
              <a:lnSpc>
                <a:spcPts val="298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0734914" y="-869322"/>
            <a:ext cx="8558066" cy="8573655"/>
          </a:xfrm>
          <a:custGeom>
            <a:avLst/>
            <a:gdLst/>
            <a:ahLst/>
            <a:cxnLst/>
            <a:rect r="r" b="b" t="t" l="l"/>
            <a:pathLst>
              <a:path h="8573655" w="8558066">
                <a:moveTo>
                  <a:pt x="0" y="0"/>
                </a:moveTo>
                <a:lnTo>
                  <a:pt x="8558067" y="0"/>
                </a:lnTo>
                <a:lnTo>
                  <a:pt x="8558067" y="8573655"/>
                </a:lnTo>
                <a:lnTo>
                  <a:pt x="0" y="85736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066800"/>
            <a:ext cx="7440024" cy="141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00"/>
              </a:lnSpc>
            </a:pPr>
            <a:r>
              <a:rPr lang="en-US" b="true" sz="5000" spc="1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UZUN KISA SÜRELI BELLEK (LSTM)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713186"/>
            <a:ext cx="6969086" cy="489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1"/>
              </a:lnSpc>
              <a:spcBef>
                <a:spcPct val="0"/>
              </a:spcBef>
            </a:pPr>
            <a:r>
              <a:rPr lang="en-US" sz="2851" spc="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Zaman Se</a:t>
            </a:r>
            <a:r>
              <a:rPr lang="en-US" sz="2851" spc="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rileri ve Sıralı Verilerin Hafızası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67177" y="3642942"/>
            <a:ext cx="12994464" cy="445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7520" indent="-273760" lvl="1">
              <a:lnSpc>
                <a:spcPts val="3550"/>
              </a:lnSpc>
              <a:spcBef>
                <a:spcPct val="0"/>
              </a:spcBef>
              <a:buFont typeface="Arial"/>
              <a:buChar char="•"/>
            </a:pPr>
            <a:r>
              <a:rPr lang="en-US" sz="2535" spc="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Geleneksel</a:t>
            </a:r>
            <a:r>
              <a:rPr lang="en-US" sz="2535" spc="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Tekrarlayan Sinir Ağlarının (RNN) uzun vadeli bağımlılıkları öğrenememesi ve "kaybolan gradyan" (vanishing gradient) problemini çözmek için 1997'de geliştirilmiştir.</a:t>
            </a:r>
          </a:p>
          <a:p>
            <a:pPr algn="l">
              <a:lnSpc>
                <a:spcPts val="3550"/>
              </a:lnSpc>
              <a:spcBef>
                <a:spcPct val="0"/>
              </a:spcBef>
            </a:pPr>
          </a:p>
          <a:p>
            <a:pPr algn="l" marL="547520" indent="-273760" lvl="1">
              <a:lnSpc>
                <a:spcPts val="3550"/>
              </a:lnSpc>
              <a:spcBef>
                <a:spcPct val="0"/>
              </a:spcBef>
              <a:buFont typeface="Arial"/>
              <a:buChar char="•"/>
            </a:pPr>
            <a:r>
              <a:rPr lang="en-US" sz="2535" spc="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Konuşma, metin ve video verileri gibi zamansal/sıralı verilerde üstün başarı gösterirler.</a:t>
            </a:r>
          </a:p>
          <a:p>
            <a:pPr algn="l">
              <a:lnSpc>
                <a:spcPts val="3550"/>
              </a:lnSpc>
              <a:spcBef>
                <a:spcPct val="0"/>
              </a:spcBef>
            </a:pPr>
          </a:p>
          <a:p>
            <a:pPr algn="l" marL="547520" indent="-273760" lvl="1">
              <a:lnSpc>
                <a:spcPts val="3550"/>
              </a:lnSpc>
              <a:spcBef>
                <a:spcPct val="0"/>
              </a:spcBef>
              <a:buFont typeface="Arial"/>
              <a:buChar char="•"/>
            </a:pPr>
            <a:r>
              <a:rPr lang="en-US" sz="2535" spc="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Hücre içindeki bilgi akışı üç kapı ile kontrol edilir: Giriş kapısı (Input), Çıkış kapısı (Output) ve Unutma kapısı (Forget).</a:t>
            </a:r>
          </a:p>
          <a:p>
            <a:pPr algn="l">
              <a:lnSpc>
                <a:spcPts val="355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0734914" y="-869322"/>
            <a:ext cx="8558066" cy="8573655"/>
          </a:xfrm>
          <a:custGeom>
            <a:avLst/>
            <a:gdLst/>
            <a:ahLst/>
            <a:cxnLst/>
            <a:rect r="r" b="b" t="t" l="l"/>
            <a:pathLst>
              <a:path h="8573655" w="8558066">
                <a:moveTo>
                  <a:pt x="0" y="0"/>
                </a:moveTo>
                <a:lnTo>
                  <a:pt x="8558067" y="0"/>
                </a:lnTo>
                <a:lnTo>
                  <a:pt x="8558067" y="8573655"/>
                </a:lnTo>
                <a:lnTo>
                  <a:pt x="0" y="85736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292229" y="4140222"/>
            <a:ext cx="5327024" cy="568182"/>
          </a:xfrm>
          <a:custGeom>
            <a:avLst/>
            <a:gdLst/>
            <a:ahLst/>
            <a:cxnLst/>
            <a:rect r="r" b="b" t="t" l="l"/>
            <a:pathLst>
              <a:path h="568182" w="5327024">
                <a:moveTo>
                  <a:pt x="0" y="0"/>
                </a:moveTo>
                <a:lnTo>
                  <a:pt x="5327024" y="0"/>
                </a:lnTo>
                <a:lnTo>
                  <a:pt x="5327024" y="568182"/>
                </a:lnTo>
                <a:lnTo>
                  <a:pt x="0" y="5681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7081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041310" y="6062946"/>
            <a:ext cx="3828862" cy="668014"/>
          </a:xfrm>
          <a:custGeom>
            <a:avLst/>
            <a:gdLst/>
            <a:ahLst/>
            <a:cxnLst/>
            <a:rect r="r" b="b" t="t" l="l"/>
            <a:pathLst>
              <a:path h="668014" w="3828862">
                <a:moveTo>
                  <a:pt x="0" y="0"/>
                </a:moveTo>
                <a:lnTo>
                  <a:pt x="3828862" y="0"/>
                </a:lnTo>
                <a:lnTo>
                  <a:pt x="3828862" y="668014"/>
                </a:lnTo>
                <a:lnTo>
                  <a:pt x="0" y="6680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066800"/>
            <a:ext cx="9854082" cy="141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00"/>
              </a:lnSpc>
            </a:pPr>
            <a:r>
              <a:rPr lang="en-US" b="true" sz="5000" spc="1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LSTM KAPI MEKANİZMALARI (MATEMATİKSEL)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672951"/>
            <a:ext cx="5091232" cy="489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1"/>
              </a:lnSpc>
              <a:spcBef>
                <a:spcPct val="0"/>
              </a:spcBef>
            </a:pPr>
            <a:r>
              <a:rPr lang="en-US" sz="2851" spc="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LSTM'</a:t>
            </a:r>
            <a:r>
              <a:rPr lang="en-US" sz="2851" spc="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in Matematiksel İşleyişi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661957"/>
            <a:ext cx="12994464" cy="762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0"/>
              </a:lnSpc>
              <a:spcBef>
                <a:spcPct val="0"/>
              </a:spcBef>
            </a:pPr>
            <a:r>
              <a:rPr lang="en-US" sz="2235" spc="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Unutma kapısı f^t, hücrenin geçmiş bilgiyi tutup tutmayacağına karar verir.</a:t>
            </a:r>
          </a:p>
          <a:p>
            <a:pPr algn="l">
              <a:lnSpc>
                <a:spcPts val="3130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5105400"/>
            <a:ext cx="8566071" cy="709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Hücre Durumu Güncellemesi (Cell State): Mevcut hücre durumu c^t, </a:t>
            </a:r>
          </a:p>
          <a:p>
            <a:pPr algn="l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unutma kapısı ve yeni giriş bilgilerinin ürünleri ile güncellenir: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7658439"/>
            <a:ext cx="10903268" cy="380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1"/>
              </a:lnSpc>
              <a:spcBef>
                <a:spcPct val="0"/>
              </a:spcBef>
            </a:pPr>
            <a:r>
              <a:rPr lang="en-US" sz="2251" spc="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(Bu yapı "Sabit Hata Karuseli" (CEC) yaratarak gradyanın kaybolmasını engeller.)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0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318456"/>
            <a:ext cx="7930732" cy="4758439"/>
          </a:xfrm>
          <a:custGeom>
            <a:avLst/>
            <a:gdLst/>
            <a:ahLst/>
            <a:cxnLst/>
            <a:rect r="r" b="b" t="t" l="l"/>
            <a:pathLst>
              <a:path h="4758439" w="7930732">
                <a:moveTo>
                  <a:pt x="0" y="0"/>
                </a:moveTo>
                <a:lnTo>
                  <a:pt x="7930732" y="0"/>
                </a:lnTo>
                <a:lnTo>
                  <a:pt x="7930732" y="4758439"/>
                </a:lnTo>
                <a:lnTo>
                  <a:pt x="0" y="47584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989437"/>
            <a:ext cx="7707794" cy="44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79"/>
              </a:lnSpc>
            </a:pPr>
            <a:r>
              <a:rPr lang="en-US" sz="3000" spc="-141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Büyük Veri İhtiyacı ve Açıklanabilirlik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066800"/>
            <a:ext cx="5953713" cy="141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00"/>
              </a:lnSpc>
            </a:pPr>
            <a:r>
              <a:rPr lang="en-US" b="true" sz="5000" spc="1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TARTIŞMA VE SINIRLAR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724166" y="991601"/>
            <a:ext cx="6215155" cy="5467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82175" indent="-241087" lvl="1">
              <a:lnSpc>
                <a:spcPts val="3126"/>
              </a:lnSpc>
              <a:buFont typeface="Arial"/>
              <a:buChar char="•"/>
            </a:pPr>
            <a:r>
              <a:rPr lang="en-US" sz="2233" spc="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Büyük Veri (Big Data) Zorunluluğu: Derin öğrenme mucizeler yaratmaz; küçük veri setlerinde sistem başarısız olur. Örneğin, EMNIST veri setinde %5'in altında hata payı için 25.000'den fazla eğitim örneğine ihtiyaç vardır.</a:t>
            </a:r>
          </a:p>
          <a:p>
            <a:pPr algn="just">
              <a:lnSpc>
                <a:spcPts val="3126"/>
              </a:lnSpc>
            </a:pPr>
          </a:p>
          <a:p>
            <a:pPr algn="just" marL="482175" indent="-241087" lvl="1">
              <a:lnSpc>
                <a:spcPts val="3126"/>
              </a:lnSpc>
              <a:spcBef>
                <a:spcPct val="0"/>
              </a:spcBef>
              <a:buFont typeface="Arial"/>
              <a:buChar char="•"/>
            </a:pPr>
            <a:r>
              <a:rPr lang="en-US" sz="2233" spc="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Yorumlanabilirlik vs. Kara Kutu (Black-Box): Bu modeller yüksek doğrulukta tahmin yapsalar da "nedensellik" sunan modeller (inferential models) değillerdir. Sağlık gibi alanlarda Açıklanabilir Yapay Zeka (XAI) ihtiyacı artmaktadır.</a:t>
            </a:r>
          </a:p>
          <a:p>
            <a:pPr algn="just">
              <a:lnSpc>
                <a:spcPts val="312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0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081873" y="3150262"/>
            <a:ext cx="7468806" cy="3986475"/>
          </a:xfrm>
          <a:custGeom>
            <a:avLst/>
            <a:gdLst/>
            <a:ahLst/>
            <a:cxnLst/>
            <a:rect r="r" b="b" t="t" l="l"/>
            <a:pathLst>
              <a:path h="3986475" w="7468806">
                <a:moveTo>
                  <a:pt x="0" y="0"/>
                </a:moveTo>
                <a:lnTo>
                  <a:pt x="7468806" y="0"/>
                </a:lnTo>
                <a:lnTo>
                  <a:pt x="7468806" y="3986476"/>
                </a:lnTo>
                <a:lnTo>
                  <a:pt x="0" y="39864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066800"/>
            <a:ext cx="7100391" cy="141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00"/>
              </a:lnSpc>
            </a:pPr>
            <a:r>
              <a:rPr lang="en-US" b="true" sz="5000" spc="1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SONUÇ VE GELECEK VİZYONU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954624"/>
            <a:ext cx="8160850" cy="5652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05"/>
              </a:lnSpc>
            </a:pPr>
            <a:r>
              <a:rPr lang="en-US" sz="2932" spc="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CNN, DBN, LSTM ve Otokodlayıcılar modern derin öğrenme ekosisteminin çekirdek yapı taşlarıdır.</a:t>
            </a:r>
          </a:p>
          <a:p>
            <a:pPr algn="just">
              <a:lnSpc>
                <a:spcPts val="4105"/>
              </a:lnSpc>
            </a:pPr>
          </a:p>
          <a:p>
            <a:pPr algn="just">
              <a:lnSpc>
                <a:spcPts val="4105"/>
              </a:lnSpc>
              <a:spcBef>
                <a:spcPct val="0"/>
              </a:spcBef>
            </a:pPr>
            <a:r>
              <a:rPr lang="en-US" sz="2932" spc="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Bu yapı taşlarının anlaşılması, onları birleştirerek graf sinir ağları (GNN) veya derin pekiştirmeli öğrenme (Deep Reinforcement Learning) gibi daha ileri düzey, karmaşık yapay zeka sistemleri kurmanın anahtarıdır.</a:t>
            </a:r>
          </a:p>
          <a:p>
            <a:pPr algn="just">
              <a:lnSpc>
                <a:spcPts val="4105"/>
              </a:lnSpc>
              <a:spcBef>
                <a:spcPct val="0"/>
              </a:spcBef>
            </a:pPr>
          </a:p>
          <a:p>
            <a:pPr algn="just">
              <a:lnSpc>
                <a:spcPts val="410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5443169" y="-2557831"/>
            <a:ext cx="7401663" cy="18288000"/>
          </a:xfrm>
          <a:custGeom>
            <a:avLst/>
            <a:gdLst/>
            <a:ahLst/>
            <a:cxnLst/>
            <a:rect r="r" b="b" t="t" l="l"/>
            <a:pathLst>
              <a:path h="18288000" w="7401663">
                <a:moveTo>
                  <a:pt x="0" y="0"/>
                </a:moveTo>
                <a:lnTo>
                  <a:pt x="7401662" y="0"/>
                </a:lnTo>
                <a:lnTo>
                  <a:pt x="7401662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7016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88962" y="2245207"/>
            <a:ext cx="14888855" cy="5501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262"/>
              </a:lnSpc>
              <a:spcBef>
                <a:spcPct val="0"/>
              </a:spcBef>
            </a:pPr>
            <a:r>
              <a:rPr lang="en-US" sz="15901" spc="-747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Dinlediğiniz için Teşekkürler.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496029" y="8835324"/>
            <a:ext cx="1274721" cy="422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1"/>
              </a:lnSpc>
            </a:pPr>
            <a:r>
              <a:rPr lang="en-US" sz="247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-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DAHDuUn1Dco</dc:identifier>
  <dcterms:modified xsi:type="dcterms:W3CDTF">2011-08-01T06:04:30Z</dcterms:modified>
  <cp:revision>1</cp:revision>
  <dc:title>Black and Purple Modern Programming Presentation</dc:title>
</cp:coreProperties>
</file>